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88E0C-28E5-493E-A3AC-FF771786A524}">
  <a:tblStyle styleId="{63688E0C-28E5-493E-A3AC-FF771786A5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bf9e8def_2_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bbf9e8def_2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bf9e8def_2_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bbf9e8def_2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bbf9e8def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bbf9e8def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bbf9e8def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bbf9e8def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bf9e8de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bbf9e8de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bf9e8def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8" name="Google Shape;108;g3dbbf9e8def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c141eff9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6" name="Google Shape;116;g3dc141eff9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141eff96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3" name="Google Shape;123;g3dc141eff96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78ab67792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e78ab67792_2_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1" name="Google Shape;131;g3e78ab67792_2_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78ab67792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e78ab67792_2_7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solidFill>
                <a:srgbClr val="1A1A1A"/>
              </a:solidFill>
            </a:endParaRPr>
          </a:p>
        </p:txBody>
      </p:sp>
      <p:sp>
        <p:nvSpPr>
          <p:cNvPr id="201" name="Google Shape;201;g3e78ab67792_2_7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78ab67792_2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78ab67792_2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78ab67792_2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78ab67792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78ab67792_2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78ab67792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c141eff96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c141eff96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53505" y="841772"/>
            <a:ext cx="4339327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53505" y="2701528"/>
            <a:ext cx="4339327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2806" y="4288698"/>
            <a:ext cx="2338388" cy="605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838406" y="457132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84117" y="273844"/>
            <a:ext cx="7210697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  <a:defRPr b="1" i="0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84117" y="1268016"/>
            <a:ext cx="7210697" cy="27194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3294B"/>
              </a:buClr>
              <a:buSzPts val="2100"/>
              <a:buChar char="•"/>
              <a:defRPr>
                <a:solidFill>
                  <a:srgbClr val="13294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>
                <a:solidFill>
                  <a:srgbClr val="13294B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500"/>
              <a:buChar char="•"/>
              <a:defRPr>
                <a:solidFill>
                  <a:srgbClr val="13294B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400"/>
              <a:buChar char="•"/>
              <a:defRPr>
                <a:solidFill>
                  <a:srgbClr val="13294B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400"/>
              <a:buChar char="•"/>
              <a:defRPr>
                <a:solidFill>
                  <a:srgbClr val="13294B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  <a:defRPr b="1" i="0" sz="3300" u="none" cap="none" strike="noStrike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3294B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ctrTitle"/>
          </p:nvPr>
        </p:nvSpPr>
        <p:spPr>
          <a:xfrm>
            <a:off x="966824" y="1333500"/>
            <a:ext cx="72549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36364"/>
              <a:buFont typeface="Calibri"/>
              <a:buNone/>
            </a:pPr>
            <a:r>
              <a:rPr lang="en" sz="5500">
                <a:latin typeface="Calibri"/>
                <a:ea typeface="Calibri"/>
                <a:cs typeface="Calibri"/>
                <a:sym typeface="Calibri"/>
              </a:rPr>
              <a:t>A Survey on RRAM Technology and MOS Integration</a:t>
            </a:r>
            <a:endParaRPr sz="5500"/>
          </a:p>
        </p:txBody>
      </p:sp>
      <p:sp>
        <p:nvSpPr>
          <p:cNvPr id="74" name="Google Shape;74;p19"/>
          <p:cNvSpPr txBox="1"/>
          <p:nvPr>
            <p:ph idx="4294967295" type="subTitle"/>
          </p:nvPr>
        </p:nvSpPr>
        <p:spPr>
          <a:xfrm>
            <a:off x="2439897" y="2949178"/>
            <a:ext cx="4264207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100"/>
              <a:buFont typeface="Arial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By Ashton Billings and Jack Walberer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4294967295" type="body"/>
          </p:nvPr>
        </p:nvSpPr>
        <p:spPr>
          <a:xfrm>
            <a:off x="284125" y="1268025"/>
            <a:ext cx="84096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What is RRAM and what are VCMs in particular?</a:t>
            </a:r>
            <a:endParaRPr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Why </a:t>
            </a:r>
            <a:r>
              <a:rPr lang="en"/>
              <a:t>and</a:t>
            </a:r>
            <a:r>
              <a:rPr lang="en"/>
              <a:t> where would you use RRAM?</a:t>
            </a:r>
            <a:endParaRPr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How are these devices actually used in CMOS?</a:t>
            </a:r>
            <a:endParaRPr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Technology dependent challenges (Planar -&gt; FD-SOI -&gt; FinFET)</a:t>
            </a:r>
            <a:endParaRPr/>
          </a:p>
        </p:txBody>
      </p:sp>
      <p:sp>
        <p:nvSpPr>
          <p:cNvPr id="80" name="Google Shape;80;p20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idx="4294967295" type="body"/>
          </p:nvPr>
        </p:nvSpPr>
        <p:spPr>
          <a:xfrm>
            <a:off x="175050" y="1699125"/>
            <a:ext cx="48978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A form of Non-volatile memory (NVM).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Uses a resistive switching device to store information.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Resistance changes based on voltage applied.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S</a:t>
            </a:r>
            <a:r>
              <a:rPr lang="en"/>
              <a:t>tores a logic 0 in the high resistance state (HRS) and a logic 1 in the low resistance state (LRS).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What is RRAM?</a:t>
            </a:r>
            <a:endParaRPr/>
          </a:p>
        </p:txBody>
      </p:sp>
      <p:sp>
        <p:nvSpPr>
          <p:cNvPr id="87" name="Google Shape;87;p21"/>
          <p:cNvSpPr txBox="1"/>
          <p:nvPr/>
        </p:nvSpPr>
        <p:spPr>
          <a:xfrm>
            <a:off x="216750" y="3987525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3294B"/>
                </a:solidFill>
              </a:rPr>
              <a:t>Waser, R., Dittmann, R., Staikov, G. and Szot, K. (2009), Redox-Based Resistive Switching Memories – Nanoionic Mechanisms, Prospects, and Challenges. Adv. Mater., 21: 2632-2663. https://doi.org/10.1002/adma.200900375</a:t>
            </a:r>
            <a:endParaRPr sz="1100">
              <a:solidFill>
                <a:srgbClr val="13294B"/>
              </a:solidFill>
            </a:endParaRPr>
          </a:p>
        </p:txBody>
      </p:sp>
      <p:sp>
        <p:nvSpPr>
          <p:cNvPr id="88" name="Google Shape;88;p21"/>
          <p:cNvSpPr txBox="1"/>
          <p:nvPr/>
        </p:nvSpPr>
        <p:spPr>
          <a:xfrm>
            <a:off x="284125" y="1100400"/>
            <a:ext cx="480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RRAM - </a:t>
            </a:r>
            <a:r>
              <a:rPr lang="en" sz="21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Resistive</a:t>
            </a:r>
            <a:r>
              <a:rPr lang="en" sz="21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Random Access Memory</a:t>
            </a:r>
            <a:endParaRPr sz="21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275" y="1454981"/>
            <a:ext cx="3537275" cy="223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4294967295" type="body"/>
          </p:nvPr>
        </p:nvSpPr>
        <p:spPr>
          <a:xfrm>
            <a:off x="284125" y="1268025"/>
            <a:ext cx="50178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Industry has converged to Valence Change Memory’s (VCMs).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HfO₂</a:t>
            </a:r>
            <a:r>
              <a:rPr lang="en"/>
              <a:t> and </a:t>
            </a:r>
            <a:r>
              <a:rPr lang="en"/>
              <a:t>TaOₓ</a:t>
            </a:r>
            <a:r>
              <a:rPr lang="en"/>
              <a:t> being the front runners.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" name="Google Shape;95;p22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Resistive Switching Devices</a:t>
            </a:r>
            <a:endParaRPr/>
          </a:p>
        </p:txBody>
      </p:sp>
      <p:sp>
        <p:nvSpPr>
          <p:cNvPr id="96" name="Google Shape;96;p22"/>
          <p:cNvSpPr txBox="1"/>
          <p:nvPr/>
        </p:nvSpPr>
        <p:spPr>
          <a:xfrm>
            <a:off x="216750" y="3987525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3294B"/>
                </a:solidFill>
              </a:rPr>
              <a:t>Waser, R., Dittmann, R., Staikov, G. and Szot, K. (2009), Redox-Based Resistive Switching Memories – Nanoionic Mechanisms, Prospects, and Challenges. Adv. Mater., 21: 2632-2663. https://doi.org/10.1002/adma.200900375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925" y="1039514"/>
            <a:ext cx="3537925" cy="30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How do VCMs Work? </a:t>
            </a:r>
            <a:endParaRPr/>
          </a:p>
        </p:txBody>
      </p:sp>
      <p:sp>
        <p:nvSpPr>
          <p:cNvPr id="103" name="Google Shape;103;p23"/>
          <p:cNvSpPr txBox="1"/>
          <p:nvPr/>
        </p:nvSpPr>
        <p:spPr>
          <a:xfrm>
            <a:off x="216750" y="3987525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3294B"/>
                </a:solidFill>
              </a:rPr>
              <a:t>H. . -S. P. Wong et al., "Metal–Oxide RRAM," in Proceedings of the IEEE, vol. 100, no. 6, pp. 1951-1970, June 2012, doi: 10.1109/JPROC.2012.2190369.</a:t>
            </a:r>
            <a:endParaRPr sz="1100">
              <a:solidFill>
                <a:srgbClr val="13294B"/>
              </a:solidFill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488" y="967950"/>
            <a:ext cx="5871974" cy="30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925" y="1770531"/>
            <a:ext cx="16668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4294967295" type="body"/>
          </p:nvPr>
        </p:nvSpPr>
        <p:spPr>
          <a:xfrm>
            <a:off x="284125" y="1268025"/>
            <a:ext cx="76605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en"/>
              <a:t>Replacement for eFlash, an embedded NVM (eNVM), which doesn’t scale below 28nm</a:t>
            </a:r>
            <a:r>
              <a:rPr b="1" lang="en"/>
              <a:t>.</a:t>
            </a:r>
            <a:endParaRPr b="1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Back-end-of-line (BEOL) integratable, allowing for higher density.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Could even be used to replace volatile memory (VM) like SRAM and DRAM.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1" name="Google Shape;111;p24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Why RRAM?</a:t>
            </a:r>
            <a:endParaRPr/>
          </a:p>
        </p:txBody>
      </p:sp>
      <p:sp>
        <p:nvSpPr>
          <p:cNvPr id="112" name="Google Shape;112;p24"/>
          <p:cNvSpPr txBox="1"/>
          <p:nvPr/>
        </p:nvSpPr>
        <p:spPr>
          <a:xfrm>
            <a:off x="208400" y="3464325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</a:rPr>
              <a:t>Hellenbrand, M., Teck, I. &amp; MacManus-Driscoll, J.L. Progress of emerging non-volatile memory technologies in industry. </a:t>
            </a:r>
            <a:r>
              <a:rPr i="1" lang="en" sz="1100">
                <a:solidFill>
                  <a:srgbClr val="222222"/>
                </a:solidFill>
              </a:rPr>
              <a:t>MRS Communications</a:t>
            </a:r>
            <a:r>
              <a:rPr lang="en" sz="1100">
                <a:solidFill>
                  <a:srgbClr val="222222"/>
                </a:solidFill>
              </a:rPr>
              <a:t> </a:t>
            </a:r>
            <a:r>
              <a:rPr b="1" lang="en" sz="1100">
                <a:solidFill>
                  <a:srgbClr val="222222"/>
                </a:solidFill>
              </a:rPr>
              <a:t>14</a:t>
            </a:r>
            <a:r>
              <a:rPr lang="en" sz="1100">
                <a:solidFill>
                  <a:srgbClr val="222222"/>
                </a:solidFill>
              </a:rPr>
              <a:t>, 1099–1112 (2024). https://doi.org/10.1557/s43579-024-00660-2</a:t>
            </a:r>
            <a:r>
              <a:rPr lang="en" sz="1100"/>
              <a:t> </a:t>
            </a:r>
            <a:endParaRPr sz="1100">
              <a:solidFill>
                <a:srgbClr val="13294B"/>
              </a:solidFill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208400" y="3938625"/>
            <a:ext cx="8570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H. . -S. P. Wong et al., "Metal–Oxide RRAM," in Proceedings of the IEEE, vol. 100, no. 6, pp. 1951-1970, June 2012, doi: 10.1109/JPROC.2012.2190369.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Industry Trends</a:t>
            </a:r>
            <a:endParaRPr/>
          </a:p>
        </p:txBody>
      </p:sp>
      <p:sp>
        <p:nvSpPr>
          <p:cNvPr id="119" name="Google Shape;119;p25"/>
          <p:cNvSpPr txBox="1"/>
          <p:nvPr/>
        </p:nvSpPr>
        <p:spPr>
          <a:xfrm>
            <a:off x="250075" y="3906150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</a:rPr>
              <a:t>Hellenbrand, M., Teck, I. &amp; MacManus-Driscoll, J.L. Progress of emerging non-volatile memory technologies in industry. </a:t>
            </a:r>
            <a:r>
              <a:rPr i="1" lang="en" sz="1100">
                <a:solidFill>
                  <a:srgbClr val="222222"/>
                </a:solidFill>
              </a:rPr>
              <a:t>MRS Communications</a:t>
            </a:r>
            <a:r>
              <a:rPr lang="en" sz="1100">
                <a:solidFill>
                  <a:srgbClr val="222222"/>
                </a:solidFill>
              </a:rPr>
              <a:t> </a:t>
            </a:r>
            <a:r>
              <a:rPr b="1" lang="en" sz="1100">
                <a:solidFill>
                  <a:srgbClr val="222222"/>
                </a:solidFill>
              </a:rPr>
              <a:t>14</a:t>
            </a:r>
            <a:r>
              <a:rPr lang="en" sz="1100">
                <a:solidFill>
                  <a:srgbClr val="222222"/>
                </a:solidFill>
              </a:rPr>
              <a:t>, 1099–1112 (2024). https://doi.org/10.1557/s43579-024-00660-2</a:t>
            </a:r>
            <a:r>
              <a:rPr lang="en" sz="1100"/>
              <a:t> </a:t>
            </a:r>
            <a:endParaRPr sz="1100">
              <a:solidFill>
                <a:srgbClr val="13294B"/>
              </a:solidFill>
            </a:endParaRPr>
          </a:p>
        </p:txBody>
      </p:sp>
      <p:pic>
        <p:nvPicPr>
          <p:cNvPr id="120" name="Google Shape;1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225" y="1025831"/>
            <a:ext cx="7571175" cy="278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Industry Trends</a:t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250075" y="3906150"/>
            <a:ext cx="85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</a:rPr>
              <a:t>Hellenbrand, M., Teck, I. &amp; MacManus-Driscoll, J.L. Progress of emerging non-volatile memory technologies in industry. </a:t>
            </a:r>
            <a:r>
              <a:rPr i="1" lang="en" sz="1100">
                <a:solidFill>
                  <a:srgbClr val="222222"/>
                </a:solidFill>
              </a:rPr>
              <a:t>MRS Communications</a:t>
            </a:r>
            <a:r>
              <a:rPr lang="en" sz="1100">
                <a:solidFill>
                  <a:srgbClr val="222222"/>
                </a:solidFill>
              </a:rPr>
              <a:t> </a:t>
            </a:r>
            <a:r>
              <a:rPr b="1" lang="en" sz="1100">
                <a:solidFill>
                  <a:srgbClr val="222222"/>
                </a:solidFill>
              </a:rPr>
              <a:t>14</a:t>
            </a:r>
            <a:r>
              <a:rPr lang="en" sz="1100">
                <a:solidFill>
                  <a:srgbClr val="222222"/>
                </a:solidFill>
              </a:rPr>
              <a:t>, 1099–1112 (2024). https://doi.org/10.1557/s43579-024-00660-2</a:t>
            </a:r>
            <a:r>
              <a:rPr lang="en" sz="1100"/>
              <a:t> </a:t>
            </a:r>
            <a:endParaRPr sz="1100">
              <a:solidFill>
                <a:srgbClr val="13294B"/>
              </a:solidFill>
            </a:endParaRPr>
          </a:p>
        </p:txBody>
      </p:sp>
      <p:sp>
        <p:nvSpPr>
          <p:cNvPr id="127" name="Google Shape;127;p26"/>
          <p:cNvSpPr txBox="1"/>
          <p:nvPr>
            <p:ph idx="4294967295" type="body"/>
          </p:nvPr>
        </p:nvSpPr>
        <p:spPr>
          <a:xfrm>
            <a:off x="284125" y="1268025"/>
            <a:ext cx="82773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TSMC - </a:t>
            </a:r>
            <a:r>
              <a:rPr lang="en"/>
              <a:t>HfO₂ based in 40nm, 28nm, and 22nm. Demoed in 12nm FinFet in 2024.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 - Demonstrated 22nm FinFET RRAM with a TaOₓ based oxide.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IBM - Looking into using both TaOₓ/HfO₂ for analog-in-memory compute.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/>
        </p:nvSpPr>
        <p:spPr>
          <a:xfrm>
            <a:off x="283464" y="228600"/>
            <a:ext cx="8613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rPr>
              <a:t>Benchmarking Memory Technology</a:t>
            </a:r>
            <a:endParaRPr i="0" sz="3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283464" y="969264"/>
            <a:ext cx="861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137160" y="1298448"/>
            <a:ext cx="8869800" cy="36570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1527048" y="1298448"/>
            <a:ext cx="145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SRAM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3023006" y="1298448"/>
            <a:ext cx="145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DRAM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4518965" y="1298448"/>
            <a:ext cx="145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Flash</a:t>
            </a:r>
            <a:endParaRPr b="1"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(NAND)</a:t>
            </a:r>
            <a:endParaRPr b="1"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6014923" y="1298448"/>
            <a:ext cx="145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Flash</a:t>
            </a:r>
            <a:b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(NOR)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7510882" y="1298448"/>
            <a:ext cx="145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RRAM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137160" y="1664208"/>
            <a:ext cx="8869800" cy="30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" name="Google Shape;142;p27"/>
          <p:cNvSpPr/>
          <p:nvPr/>
        </p:nvSpPr>
        <p:spPr>
          <a:xfrm>
            <a:off x="210312" y="166420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Volatile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1572768" y="16642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Volatile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3068726" y="16642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Volatile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4564685" y="16642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Non-Volatile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6060643" y="16642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Non-Volatile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137160" y="1984248"/>
            <a:ext cx="8869800" cy="3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210312" y="198424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Cell Size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1572768" y="19842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~50 F²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3068726" y="19842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~6 F²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4564685" y="19842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~4 F²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6060643" y="19842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~10F²</a:t>
            </a:r>
            <a:endParaRPr sz="800">
              <a:solidFill>
                <a:srgbClr val="B05A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137160" y="2304288"/>
            <a:ext cx="8869800" cy="30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210312" y="230428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Read Speed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1572768" y="230428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3068726" y="230428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4564685" y="230428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Slow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6060643" y="230428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137160" y="2624328"/>
            <a:ext cx="8869800" cy="3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210312" y="262432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Write Speed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1572768" y="262432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3068726" y="262432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4564685" y="262432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Slow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6060643" y="262432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5A00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Slow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137160" y="2944368"/>
            <a:ext cx="8869800" cy="30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210312" y="294436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Endurance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1572768" y="294436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Unlimited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3068726" y="294436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~10¹⁵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4564685" y="294436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~10⁴–10⁵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137160" y="3264408"/>
            <a:ext cx="8869800" cy="3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210312" y="326440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Write Voltage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1572768" y="32644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Vdd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3068726" y="32644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Vdd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564685" y="32644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~20V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060643" y="326440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5A00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~20V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137160" y="3584448"/>
            <a:ext cx="8869800" cy="30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210312" y="358444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Write Granularity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1572768" y="35844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Per-bit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3068726" y="35844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Per-bit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4564685" y="35844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Block erase req.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6060643" y="358444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Block erase req.</a:t>
            </a:r>
            <a:endParaRPr sz="8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82880" y="3977640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sz="7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137110" y="3904498"/>
            <a:ext cx="8869800" cy="301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210262" y="3904498"/>
            <a:ext cx="129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On Chip Usage</a:t>
            </a:r>
            <a:endParaRPr sz="8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1572718" y="390449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068676" y="390449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sz="800">
              <a:solidFill>
                <a:srgbClr val="C0392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4564635" y="390449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sz="8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6060593" y="390449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7593343" y="166415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Non-Volatile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7593343" y="198419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~6–12 F²</a:t>
            </a:r>
            <a:endParaRPr sz="800">
              <a:solidFill>
                <a:srgbClr val="B05A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7593343" y="230423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Fast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7593343" y="262427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5A00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Medium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7593343" y="294431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5A00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~10⁶–10⁹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7593343" y="326435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5A00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B05A00"/>
                </a:solidFill>
                <a:latin typeface="Georgia"/>
                <a:ea typeface="Georgia"/>
                <a:cs typeface="Georgia"/>
                <a:sym typeface="Georgia"/>
              </a:rPr>
              <a:t>Vdd + boost ~2V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7593343" y="358439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Per-bit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7593293" y="3904448"/>
            <a:ext cx="1413600" cy="30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A7A4A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6079023" y="2944368"/>
            <a:ext cx="141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~10⁴–10⁵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/>
          <p:nvPr/>
        </p:nvSpPr>
        <p:spPr>
          <a:xfrm>
            <a:off x="1920250" y="834362"/>
            <a:ext cx="34746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3D4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BB3D4"/>
                </a:solidFill>
                <a:latin typeface="Calibri"/>
                <a:ea typeface="Calibri"/>
                <a:cs typeface="Calibri"/>
                <a:sym typeface="Calibri"/>
              </a:rPr>
              <a:t>[ add 1T1R schematic here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5394950" y="834449"/>
            <a:ext cx="34746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3D4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BB3D4"/>
                </a:solidFill>
                <a:latin typeface="Calibri"/>
                <a:ea typeface="Calibri"/>
                <a:cs typeface="Calibri"/>
                <a:sym typeface="Calibri"/>
              </a:rPr>
              <a:t>[ add crossbar schematic here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/>
          <p:nvPr/>
        </p:nvSpPr>
        <p:spPr>
          <a:xfrm>
            <a:off x="274320" y="267527"/>
            <a:ext cx="8595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2700"/>
              <a:buFont typeface="Calibri"/>
              <a:buNone/>
            </a:pPr>
            <a:r>
              <a:rPr b="1" i="0" lang="en" sz="2300" u="none" cap="none" strike="noStrike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rPr>
              <a:t>Competing RRAM Architectures: Operating Conditions</a:t>
            </a:r>
            <a:endParaRPr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920250" y="761249"/>
            <a:ext cx="3474600" cy="1293000"/>
          </a:xfrm>
          <a:prstGeom prst="rect">
            <a:avLst/>
          </a:prstGeom>
          <a:solidFill>
            <a:srgbClr val="EBF0F7"/>
          </a:solidFill>
          <a:ln cap="flat" cmpd="sng" w="9525">
            <a:solidFill>
              <a:srgbClr val="9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5394950" y="761299"/>
            <a:ext cx="3474600" cy="1293000"/>
          </a:xfrm>
          <a:prstGeom prst="rect">
            <a:avLst/>
          </a:prstGeom>
          <a:solidFill>
            <a:srgbClr val="EBF0F7"/>
          </a:solidFill>
          <a:ln cap="flat" cmpd="sng" w="9525">
            <a:solidFill>
              <a:srgbClr val="9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28"/>
          <p:cNvGraphicFramePr/>
          <p:nvPr/>
        </p:nvGraphicFramePr>
        <p:xfrm>
          <a:off x="274320" y="2100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{63688E0C-28E5-493E-A3AC-FF771786A524}</a:tableStyleId>
              </a:tblPr>
              <a:tblGrid>
                <a:gridCol w="1645925"/>
                <a:gridCol w="3474725"/>
                <a:gridCol w="34747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1T1R 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Crossbar 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Array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BL: 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0.3-0.4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V,  SL: 0 V,  WL: VDD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MOSFET: triode</a:t>
                      </a:r>
                      <a:endParaRPr sz="9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sense I_cell vs. I_ref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HRS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LRS 10–1000× in HfO₂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WL = -Vr/2,  BL = +Vr/2  </a:t>
                      </a:r>
                      <a:endParaRPr sz="9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I_cell vs I_ref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Sneak: I = (N–1)·Vr / (2·R_LRS)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HRS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LRS must exceed array fan-out N for read margin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BL: 2–2.5 V,  SL: 0 V,  WL: V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MOSFET: saturation — used to limit su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dden current jump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 u="none" cap="none" strike="noStrike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R_LRS = Vc/Icc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WL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+Vw/2,  BL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−Vw/2  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limit sudden jump when channel conducts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N-1 nodes on the WL and BL are half selected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94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329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C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SL: 1.5 V,  BL: 0 V,  WL: V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MOSFET: saturation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+Vw/2,  WL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−Vw/2  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N-1 nodes on the WL and BL are half selected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cxnSp>
        <p:nvCxnSpPr>
          <p:cNvPr id="210" name="Google Shape;210;p28"/>
          <p:cNvCxnSpPr/>
          <p:nvPr/>
        </p:nvCxnSpPr>
        <p:spPr>
          <a:xfrm>
            <a:off x="274320" y="4367744"/>
            <a:ext cx="8595300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8"/>
          <p:cNvSpPr/>
          <p:nvPr/>
        </p:nvSpPr>
        <p:spPr>
          <a:xfrm>
            <a:off x="274357" y="4221507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i="1" lang="en" sz="10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Niu et al., Sci. Rep. 6:28155 (2016) </a:t>
            </a:r>
            <a:r>
              <a:rPr i="1" lang="en" sz="10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i="1" lang="en" sz="1000">
                <a:latin typeface="Georgia"/>
                <a:ea typeface="Georgia"/>
                <a:cs typeface="Georgia"/>
                <a:sym typeface="Georgia"/>
              </a:rPr>
              <a:t> D. Ielmini, "Resistive switching memories based on metal oxides: mechanisms, reliability and scaling," Semiconductor Science and Technology, vol. 31, no. 6, p. 063002, 2016.</a:t>
            </a:r>
            <a:endParaRPr i="1" sz="1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12" name="Google Shape;212;p28" title="Screenshot 2026-05-04 at 1.46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052" y="761238"/>
            <a:ext cx="1598084" cy="1293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28" title="Screenshot 2026-05-04 at 6.07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4225" y="761300"/>
            <a:ext cx="2536053" cy="129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Why 1T1R?</a:t>
            </a:r>
            <a:endParaRPr/>
          </a:p>
        </p:txBody>
      </p:sp>
      <p:graphicFrame>
        <p:nvGraphicFramePr>
          <p:cNvPr id="219" name="Google Shape;219;p29"/>
          <p:cNvGraphicFramePr/>
          <p:nvPr/>
        </p:nvGraphicFramePr>
        <p:xfrm>
          <a:off x="284120" y="1256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{63688E0C-28E5-493E-A3AC-FF771786A524}</a:tableStyleId>
              </a:tblPr>
              <a:tblGrid>
                <a:gridCol w="2849175"/>
                <a:gridCol w="2849175"/>
              </a:tblGrid>
              <a:tr h="2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RRAM Requirement</a:t>
                      </a:r>
                      <a:endParaRPr sz="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Transistor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Design</a:t>
                      </a:r>
                      <a:endParaRPr sz="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114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1600">
                          <a:solidFill>
                            <a:srgbClr val="1A1A1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Limit Icc for SET (0-1) and Forming Voltage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Georgia"/>
                        <a:buAutoNum type="arabicPeriod"/>
                      </a:pP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Built in headroom to be in s</a:t>
                      </a: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aturation</a:t>
                      </a: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during forming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Georgia"/>
                        <a:buAutoNum type="arabicPeriod"/>
                      </a:pP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Size so: Ids = Icc = ½µnCox(W/L)(Vgs − Vt)²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77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1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Suppress</a:t>
                      </a:r>
                      <a:r>
                        <a:rPr lang="en" sz="1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Leakage Current from other Cells: Isneak = (N−1) · Vr / (2 · R_LRS)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Georgia"/>
                        <a:buAutoNum type="arabicPeriod"/>
                      </a:pP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Limit DIBL 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Georgia"/>
                        <a:buAutoNum type="arabicPeriod"/>
                      </a:pP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Low SS = (kT/q)ln(10)(1 + Cd/Cox)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1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Ensure Clean Read</a:t>
                      </a:r>
                      <a:endParaRPr sz="1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Georgia"/>
                        <a:buAutoNum type="arabicPeriod"/>
                      </a:pP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Limit R_on of transistor</a:t>
                      </a:r>
                      <a:b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lang="en" sz="12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R_LRS&gt;&gt;R_on</a:t>
                      </a:r>
                      <a:endParaRPr sz="12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pic>
        <p:nvPicPr>
          <p:cNvPr id="220" name="Google Shape;220;p29" title="Screenshot 2026-05-04 at 6.32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1095" y="1268044"/>
            <a:ext cx="2191501" cy="249763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/>
        </p:nvSpPr>
        <p:spPr>
          <a:xfrm>
            <a:off x="284125" y="4140325"/>
            <a:ext cx="86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Georgia"/>
                <a:ea typeface="Georgia"/>
                <a:cs typeface="Georgia"/>
                <a:sym typeface="Georgia"/>
              </a:rPr>
              <a:t> D. Ielmini, "Resistive switching memories based on metal oxides: mechanisms, reliability and scaling," Semiconductor Science and Technology, vol. 31, no. 6, p. 063002, 2016.</a:t>
            </a:r>
            <a:endParaRPr i="1"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4294967295" type="title"/>
          </p:nvPr>
        </p:nvSpPr>
        <p:spPr>
          <a:xfrm>
            <a:off x="284117" y="273844"/>
            <a:ext cx="8611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/>
              <a:t>Planar CMOS with RRAM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3507125" y="1330650"/>
            <a:ext cx="3315600" cy="25965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t" bIns="137000" lIns="137000" spcFirstLastPara="1" rIns="137000" wrap="square" tIns="1370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Niu 2016 </a:t>
            </a:r>
            <a:endParaRPr b="1" i="0" sz="1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W = 1.14 μm,  L = 0.24 μm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= 0.9 V  I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cc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= 10 μA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SET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0.8–1.1 V,  V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RESET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1.0–1.5 V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LRS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= 0.4 V / 10 μA = 40 kΩ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" sz="1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on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200 Ω  </a:t>
            </a:r>
            <a:r>
              <a:rPr lang="en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&lt;</a:t>
            </a: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40 kΩ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Forming: 3.2–4.0 V on BL 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8" name="Google Shape;228;p30" title="Screenshot 2026-05-04 at 7.03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2800" y="1111175"/>
            <a:ext cx="2228000" cy="3046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/>
        </p:nvSpPr>
        <p:spPr>
          <a:xfrm>
            <a:off x="336950" y="1336313"/>
            <a:ext cx="3170100" cy="259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8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Sizing the Select Transistor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3294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Series circuit constraint: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lang="en" sz="1100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bl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=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RRAM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+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ds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3294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Saturation: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ds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&gt; (V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gs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−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n" sz="1600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so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bl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−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SET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&gt; (V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gs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−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13294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W/L sizing from saturation model: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ds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= ½μ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ox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(W/L)(V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gs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−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)² = I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cc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3294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LRS resistance: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LRS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=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/ I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cc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    (V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600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0.4 V for HfO₂)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on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= L / [μ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ox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· W · (V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gs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− V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)]  </a:t>
            </a:r>
            <a:r>
              <a:rPr lang="en" sz="1600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&lt;</a:t>
            </a:r>
            <a:r>
              <a:rPr i="0" lang="en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 R</a:t>
            </a:r>
            <a:r>
              <a:rPr i="0" lang="en" sz="11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LRS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3294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-36600" y="4112175"/>
            <a:ext cx="92172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Niu, G., Kim, H.-D., Roelofs, R., Perez, E., Schubert, M. A., Zaumseil, P., Costina, I., &amp; Wenger, C. (2016). Material insights of HfO₂-based integrated 1-transistor-1-resistor resistive random access memory devices processed by batch atomic layer deposition. </a:t>
            </a:r>
            <a:r>
              <a:rPr i="1" lang="en" sz="9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Scientific Reports</a:t>
            </a:r>
            <a:r>
              <a:rPr lang="en" sz="9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, 6, 28155.</a:t>
            </a:r>
            <a:endParaRPr sz="900">
              <a:solidFill>
                <a:srgbClr val="55555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55555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4294967295" type="title"/>
          </p:nvPr>
        </p:nvSpPr>
        <p:spPr>
          <a:xfrm>
            <a:off x="284125" y="273850"/>
            <a:ext cx="885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300"/>
              <a:buFont typeface="Georgia"/>
              <a:buNone/>
            </a:pPr>
            <a:r>
              <a:rPr lang="en" sz="3000"/>
              <a:t>Planar</a:t>
            </a:r>
            <a:r>
              <a:rPr lang="en" sz="3000"/>
              <a:t>, FDSOI, FinFET Comparison RRAM</a:t>
            </a:r>
            <a:endParaRPr sz="3000"/>
          </a:p>
        </p:txBody>
      </p:sp>
      <p:sp>
        <p:nvSpPr>
          <p:cNvPr id="236" name="Google Shape;236;p31"/>
          <p:cNvSpPr txBox="1"/>
          <p:nvPr/>
        </p:nvSpPr>
        <p:spPr>
          <a:xfrm>
            <a:off x="216750" y="3987525"/>
            <a:ext cx="857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15692" r="16553" t="24993"/>
          <a:stretch/>
        </p:blipFill>
        <p:spPr>
          <a:xfrm>
            <a:off x="476425" y="1862513"/>
            <a:ext cx="3266700" cy="153052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" name="Google Shape;238;p31"/>
          <p:cNvSpPr txBox="1"/>
          <p:nvPr/>
        </p:nvSpPr>
        <p:spPr>
          <a:xfrm>
            <a:off x="4071900" y="1265200"/>
            <a:ext cx="1400100" cy="339900"/>
          </a:xfrm>
          <a:prstGeom prst="rect">
            <a:avLst/>
          </a:prstGeom>
          <a:solidFill>
            <a:srgbClr val="13294B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Parameter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471900" y="1265200"/>
            <a:ext cx="1100100" cy="339900"/>
          </a:xfrm>
          <a:prstGeom prst="rect">
            <a:avLst/>
          </a:prstGeom>
          <a:solidFill>
            <a:srgbClr val="13294B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Planar Bulk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6571900" y="1265200"/>
            <a:ext cx="1100100" cy="339900"/>
          </a:xfrm>
          <a:prstGeom prst="rect">
            <a:avLst/>
          </a:prstGeom>
          <a:solidFill>
            <a:srgbClr val="13294B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FD-SOI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7671900" y="1265200"/>
            <a:ext cx="1100100" cy="339900"/>
          </a:xfrm>
          <a:prstGeom prst="rect">
            <a:avLst/>
          </a:prstGeom>
          <a:solidFill>
            <a:srgbClr val="13294B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FinFET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4071900" y="1605200"/>
            <a:ext cx="14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VDD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5471900" y="160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1.0 V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6571900" y="160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0.9–1.0 V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7671900" y="160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0.8–0.9 V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4071900" y="1945200"/>
            <a:ext cx="14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cc</a:t>
            </a: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Control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5471900" y="1945200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W/L + Vg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6571900" y="1945200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W/L + Vg + BG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7671900" y="1945200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Nfg</a:t>
            </a: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+ V</a:t>
            </a: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4071900" y="2285200"/>
            <a:ext cx="14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SS (mV/dec)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5471900" y="228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80–100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6571900" y="228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65–75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7671900" y="2285200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~65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4071900" y="2626363"/>
            <a:ext cx="14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Min. cell area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5471900" y="262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0.06 </a:t>
            </a: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μm²</a:t>
            </a: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6571900" y="262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0.066 μm²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7671900" y="262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0.022 μm²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4071900" y="2966350"/>
            <a:ext cx="14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Forming headroom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5471900" y="2966363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OK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6571900" y="2966363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7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Possible charge pump needed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7671900" y="2966363"/>
            <a:ext cx="1100100" cy="33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Charge pump req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4071900" y="3306938"/>
            <a:ext cx="14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In </a:t>
            </a:r>
            <a:r>
              <a:rPr b="1"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Production eRRAM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5471900" y="330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TSMC 28nm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6571900" y="330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STMicro/GF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7671900" y="3306363"/>
            <a:ext cx="1100100" cy="33990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60000" spcFirstLastPara="1" rIns="60000" wrap="square" tIns="30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i="0" lang="en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SMC 12nm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196950" y="4178975"/>
            <a:ext cx="875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en" sz="1000" u="none" cap="none" strike="noStrike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D. Ielmini, Semicond. Sci. Technol. 31:063002 (2016), Fig. 5   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/>
        </p:nvSpPr>
        <p:spPr>
          <a:xfrm>
            <a:off x="3264150" y="2138700"/>
            <a:ext cx="2615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r>
              <a:rPr lang="en" sz="21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